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77" r:id="rId5"/>
    <p:sldId id="278" r:id="rId6"/>
    <p:sldId id="258" r:id="rId7"/>
    <p:sldId id="259" r:id="rId8"/>
    <p:sldId id="260" r:id="rId9"/>
    <p:sldId id="261" r:id="rId10"/>
    <p:sldId id="262" r:id="rId11"/>
    <p:sldId id="279" r:id="rId12"/>
    <p:sldId id="280" r:id="rId13"/>
    <p:sldId id="281" r:id="rId14"/>
    <p:sldId id="282" r:id="rId15"/>
    <p:sldId id="283" r:id="rId16"/>
    <p:sldId id="266" r:id="rId17"/>
    <p:sldId id="270" r:id="rId18"/>
    <p:sldId id="271" r:id="rId19"/>
    <p:sldId id="272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72" d="100"/>
          <a:sy n="72" d="100"/>
        </p:scale>
        <p:origin x="606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672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5728" y="1600200"/>
            <a:ext cx="5376672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0573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1025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t>Click to edit Master title style</a:t>
            </a:r>
          </a:p>
        </p:txBody>
      </p:sp>
      <p:sp>
        <p:nvSpPr>
          <p:cNvPr id="1027" name="Text Placeholder 1026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Date Placeholder 1027"/>
          <p:cNvSpPr>
            <a:spLocks noGrp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 dirty="0"/>
          </a:p>
        </p:txBody>
      </p:sp>
      <p:sp>
        <p:nvSpPr>
          <p:cNvPr id="1029" name="Footer Placeholder 1028"/>
          <p:cNvSpPr>
            <a:spLocks noGrp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endParaRPr lang="en-US" dirty="0"/>
          </a:p>
        </p:txBody>
      </p:sp>
      <p:sp>
        <p:nvSpPr>
          <p:cNvPr id="1030" name="Slide Number Placeholder 1029"/>
          <p:cNvSpPr>
            <a:spLocks noGrp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9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90204" pitchFamily="34" charset="0"/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90204" pitchFamily="34" charset="0"/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90204" pitchFamily="34" charset="0"/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90204" pitchFamily="34" charset="0"/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90204" pitchFamily="34" charset="0"/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90204" pitchFamily="34" charset="0"/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90204" pitchFamily="34" charset="0"/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90204" pitchFamily="34" charset="0"/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hyperlink" Target="https://docs.google.com/spreadsheets/d/1efeRLEHvsvSHCHaZdJ2bsdbmigGfJ0h0/edit?usp=sharing&amp;ouid=106032375274056022459&amp;rtpof=true&amp;sd=true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hyperlink" Target="https://docs.google.com/spreadsheets/d/1efeRLEHvsvSHCHaZdJ2bsdbmigGfJ0h0/edit?usp=sharing&amp;ouid=106032375274056022459&amp;rtpof=true&amp;sd=true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docs.google.com/spreadsheets/d/1efeRLEHvsvSHCHaZdJ2bsdbmigGfJ0h0/edit?usp=sharing&amp;ouid=106032375274056022459&amp;rtpof=true&amp;sd=true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4485" y="3655695"/>
            <a:ext cx="9144000" cy="1406635"/>
          </a:xfrm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r>
              <a:rPr lang="en-US" sz="3200" b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Montserrat" panose="00000500000000000000" pitchFamily="2" charset="0"/>
                <a:cs typeface="Arial" panose="020B0604020202090204" pitchFamily="34" charset="0"/>
              </a:rPr>
              <a:t>ZOMATO RESTAURANT ANALYSIS</a:t>
            </a:r>
            <a:br>
              <a:rPr lang="en-US" sz="3200" b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Montserrat" panose="00000500000000000000" pitchFamily="2" charset="0"/>
                <a:cs typeface="Arial" panose="020B0604020202090204" pitchFamily="34" charset="0"/>
              </a:rPr>
            </a:br>
            <a:endParaRPr lang="en-US" sz="3200" b="1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Montserrat" panose="00000500000000000000" pitchFamily="2" charset="0"/>
              <a:cs typeface="Arial" panose="020B060402020209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2085" y="4591685"/>
            <a:ext cx="11847195" cy="2113280"/>
          </a:xfrm>
        </p:spPr>
        <p:txBody>
          <a:bodyPr/>
          <a:lstStyle/>
          <a:p>
            <a:r>
              <a:rPr lang="en-US" dirty="0">
                <a:latin typeface="Montserrat" panose="00000500000000000000" pitchFamily="2" charset="0"/>
              </a:rPr>
              <a:t>“Data-Driven Insights &amp; Recommendations’’</a:t>
            </a:r>
            <a:endParaRPr lang="en-US" dirty="0">
              <a:latin typeface="Montserrat" panose="00000500000000000000" pitchFamily="2" charset="0"/>
            </a:endParaRPr>
          </a:p>
          <a:p>
            <a:endParaRPr lang="en-US" dirty="0">
              <a:latin typeface="Montserrat" panose="00000500000000000000" pitchFamily="2" charset="0"/>
            </a:endParaRPr>
          </a:p>
          <a:p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    Mr. CHANANJESHWER .M .P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02/03/2026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algn="l"/>
            <a:r>
              <a:rPr lang="en-US" altLang="en-US" b="1" dirty="0">
                <a:sym typeface="+mn-ea"/>
              </a:rPr>
              <a:t> Interactive Dashboard (Google Sheets):</a:t>
            </a:r>
            <a:endParaRPr lang="en-US" dirty="0"/>
          </a:p>
          <a:p>
            <a:r>
              <a:rPr lang="en-US" altLang="en-US" dirty="0">
                <a:hlinkClick r:id="rId1" tooltip="" action="ppaction://hlinkfile"/>
              </a:rPr>
              <a:t>https://docs.google.com/spreadsheets/d/1efeRLEHvsvSHCHaZdJ2bsdbmigGfJ0h0/edit?usp=sharing&amp;ouid=106032375274056022459&amp;rtpof=true&amp;sd=true</a:t>
            </a:r>
            <a:endParaRPr lang="en-US" altLang="en-US" dirty="0"/>
          </a:p>
        </p:txBody>
      </p:sp>
      <p:pic>
        <p:nvPicPr>
          <p:cNvPr id="1030" name="Picture 6" descr="Develop Zomato Like Food Delivery App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0898" y="713273"/>
            <a:ext cx="4775596" cy="2823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8 Essential Restaurant Reports for Your Dashboard in 202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081" y="53197"/>
            <a:ext cx="6187630" cy="3375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255" y="635"/>
            <a:ext cx="11177270" cy="1584325"/>
          </a:xfrm>
        </p:spPr>
        <p:txBody>
          <a:bodyPr/>
          <a:lstStyle/>
          <a:p>
            <a:r>
              <a:rPr lang="en-US" sz="3200" b="1" dirty="0">
                <a:solidFill>
                  <a:srgbClr val="FF0000"/>
                </a:solidFill>
                <a:latin typeface="Montserrat" panose="00000500000000000000" pitchFamily="2" charset="0"/>
              </a:rPr>
              <a:t>ABOUT ZOMATO</a:t>
            </a:r>
            <a:endParaRPr lang="en-US" sz="3200" b="1" dirty="0">
              <a:solidFill>
                <a:srgbClr val="FF0000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6535" y="1430655"/>
            <a:ext cx="11907520" cy="6036310"/>
          </a:xfrm>
        </p:spPr>
        <p:txBody>
          <a:bodyPr/>
          <a:lstStyle/>
          <a:p>
            <a:r>
              <a:rPr lang="en-US" altLang="en-US" sz="1400" b="1" dirty="0">
                <a:latin typeface="Montserrat" panose="00000500000000000000" pitchFamily="2" charset="0"/>
                <a:cs typeface="Arial" panose="020B0604020202090204" pitchFamily="34" charset="0"/>
              </a:rPr>
              <a:t>Introduction:</a:t>
            </a:r>
            <a:endParaRPr lang="en-US" altLang="en-US" sz="1400" b="1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Did you know that over 65% of restaurant decisions today are influenced by digital platforms like Zomato?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r>
              <a:rPr lang="en-US" altLang="en-US" sz="1400" b="1" dirty="0">
                <a:latin typeface="Montserrat" panose="00000500000000000000" pitchFamily="2" charset="0"/>
                <a:cs typeface="Arial" panose="020B0604020202090204" pitchFamily="34" charset="0"/>
              </a:rPr>
              <a:t>Project Context:</a:t>
            </a:r>
            <a:endParaRPr lang="en-US" altLang="en-US" sz="1400" b="1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Zomato operates in a highly competitive multi-country market with over 9,500 restaurants in its dataset. While demand is rising, not every city shows equal potential.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Understanding where to expand, which markets are saturated, and which cities show promising customer engagement.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r>
              <a:rPr lang="en-US" altLang="en-US" sz="1400" b="1" dirty="0">
                <a:latin typeface="Montserrat" panose="00000500000000000000" pitchFamily="2" charset="0"/>
                <a:cs typeface="Arial" panose="020B0604020202090204" pitchFamily="34" charset="0"/>
              </a:rPr>
              <a:t>Project Objectives:</a:t>
            </a:r>
            <a:endParaRPr lang="en-US" altLang="en-US" sz="1400" b="1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Identify high-potential cities for new restaurant openings using data-driven scoring methods.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Analyze market trends in ratings, cost, competition, and customer engagement.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Highlight top opportunities through interactive dashboards, KPIs, and pivot-based insights.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endParaRPr lang="en-US" alt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925" y="245745"/>
            <a:ext cx="11166475" cy="5880735"/>
          </a:xfrm>
        </p:spPr>
        <p:txBody>
          <a:bodyPr/>
          <a:lstStyle/>
          <a:p>
            <a:pPr marL="0" indent="0">
              <a:buNone/>
            </a:pPr>
            <a:r>
              <a:rPr lang="en-US" sz="1400" dirty="0">
                <a:latin typeface="Arial" panose="020B0604020202090204" pitchFamily="34" charset="0"/>
                <a:cs typeface="Arial" panose="020B0604020202090204" pitchFamily="34" charset="0"/>
              </a:rPr>
              <a:t>• </a:t>
            </a:r>
            <a:r>
              <a:rPr 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Analyze Zomato’s restaurant data across multiple countries.</a:t>
            </a:r>
            <a:endParaRPr 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• Identify high-potential countries and cities for new restaurant openings.</a:t>
            </a:r>
            <a:endParaRPr 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• Provide data-backed recommendations on pricing, cuisines, and services.</a:t>
            </a:r>
            <a:endParaRPr 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endParaRPr lang="en-US" sz="1400" dirty="0"/>
          </a:p>
        </p:txBody>
      </p:sp>
      <p:pic>
        <p:nvPicPr>
          <p:cNvPr id="4" name="Content Placeholder 3" descr="1_Tevnc38WMxx4eC0TdTArn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377950"/>
            <a:ext cx="6327140" cy="459867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" name="Content Placeholder 8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1468" y="1377794"/>
            <a:ext cx="5095875" cy="46005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03225" y="250190"/>
            <a:ext cx="12120245" cy="35032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                     </a:t>
            </a:r>
            <a:r>
              <a:rPr lang="en-US" sz="2800" dirty="0">
                <a:solidFill>
                  <a:srgbClr val="FF0000"/>
                </a:solidFill>
                <a:latin typeface="Montserrat" panose="00000500000000000000" pitchFamily="2" charset="0"/>
              </a:rPr>
              <a:t>Problem Statement &amp; Business Need </a:t>
            </a:r>
            <a:endParaRPr lang="en-US" sz="2800" dirty="0">
              <a:solidFill>
                <a:srgbClr val="FF0000"/>
              </a:solidFill>
              <a:latin typeface="Montserrat" panose="00000500000000000000" pitchFamily="2" charset="0"/>
            </a:endParaRPr>
          </a:p>
          <a:p>
            <a:endParaRPr lang="en-US" sz="1400" dirty="0">
              <a:solidFill>
                <a:srgbClr val="FF0000"/>
              </a:solidFill>
              <a:latin typeface="Montserrat" panose="00000500000000000000" pitchFamily="2" charset="0"/>
            </a:endParaRPr>
          </a:p>
          <a:p>
            <a:r>
              <a:rPr lang="en-US" altLang="en-US" sz="1400" b="1" dirty="0">
                <a:latin typeface="Montserrat" panose="00000500000000000000" pitchFamily="2" charset="0"/>
                <a:cs typeface="Arial" panose="020B0604020202090204" pitchFamily="34" charset="0"/>
              </a:rPr>
              <a:t>Business Context:</a:t>
            </a:r>
            <a:endParaRPr lang="en-US" altLang="en-US" sz="1400" b="1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   • Zomato operates across multiple countries with diverse restaurant markets.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   • Expansion decisions require identifying high-potential, low-competition locations.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r>
              <a:rPr lang="en-US" altLang="en-US" sz="1400" b="1" dirty="0">
                <a:latin typeface="Montserrat" panose="00000500000000000000" pitchFamily="2" charset="0"/>
                <a:cs typeface="Arial" panose="020B0604020202090204" pitchFamily="34" charset="0"/>
              </a:rPr>
              <a:t>Problem:</a:t>
            </a:r>
            <a:endParaRPr lang="en-US" altLang="en-US" sz="1400" b="1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   • Lack of clarity on where to expand, what cuisines to focus on, and how pricing affects demand.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r>
              <a:rPr lang="en-US" altLang="en-US" sz="1400" b="1" dirty="0">
                <a:latin typeface="Montserrat" panose="00000500000000000000" pitchFamily="2" charset="0"/>
                <a:cs typeface="Arial" panose="020B0604020202090204" pitchFamily="34" charset="0"/>
              </a:rPr>
              <a:t>Goal:</a:t>
            </a:r>
            <a:endParaRPr lang="en-US" altLang="en-US" sz="1400" b="1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   • Use data to support smart, low-risk restaurant expansion decisions.</a:t>
            </a:r>
            <a:br>
              <a:rPr lang="en-US" sz="1600" dirty="0">
                <a:latin typeface="Arial" panose="020B0604020202090204" pitchFamily="34" charset="0"/>
                <a:cs typeface="Arial" panose="020B0604020202090204" pitchFamily="34" charset="0"/>
              </a:rPr>
            </a:br>
            <a:endParaRPr lang="en-US" sz="16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1853" y="3320813"/>
            <a:ext cx="4086807" cy="329201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  <a:headEnd/>
            <a:tailEnd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45719"/>
          </a:xfrm>
        </p:spPr>
        <p:txBody>
          <a:bodyPr/>
          <a:lstStyle/>
          <a:p>
            <a:r>
              <a:rPr lang="en-US" sz="3200" dirty="0">
                <a:solidFill>
                  <a:srgbClr val="FF0000"/>
                </a:solidFill>
                <a:latin typeface="Montserrat" panose="00000500000000000000" pitchFamily="2" charset="0"/>
              </a:rPr>
              <a:t>Data Overview</a:t>
            </a:r>
            <a:endParaRPr lang="en-US" sz="3200" dirty="0">
              <a:solidFill>
                <a:srgbClr val="FF0000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711200"/>
            <a:ext cx="11582400" cy="6146800"/>
          </a:xfrm>
        </p:spPr>
        <p:txBody>
          <a:bodyPr/>
          <a:lstStyle/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400" dirty="0"/>
              <a:t>• </a:t>
            </a:r>
            <a:r>
              <a:rPr lang="en-US" sz="1400" b="1" dirty="0">
                <a:latin typeface="Montserrat" panose="00000500000000000000" pitchFamily="2" charset="0"/>
                <a:cs typeface="Arial" panose="020B0604020202090204" pitchFamily="34" charset="0"/>
              </a:rPr>
              <a:t>Total restaurants: </a:t>
            </a:r>
            <a:r>
              <a:rPr 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9,551.</a:t>
            </a:r>
            <a:endParaRPr 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endParaRPr 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• </a:t>
            </a:r>
            <a:r>
              <a:rPr lang="en-US" sz="1400" b="1" dirty="0">
                <a:latin typeface="Montserrat" panose="00000500000000000000" pitchFamily="2" charset="0"/>
                <a:cs typeface="Arial" panose="020B0604020202090204" pitchFamily="34" charset="0"/>
              </a:rPr>
              <a:t>Countries covered: </a:t>
            </a:r>
            <a:r>
              <a:rPr 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15.</a:t>
            </a:r>
            <a:endParaRPr 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endParaRPr 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• </a:t>
            </a:r>
            <a:r>
              <a:rPr lang="en-US" sz="1400" b="1" dirty="0">
                <a:latin typeface="Montserrat" panose="00000500000000000000" pitchFamily="2" charset="0"/>
                <a:cs typeface="Arial" panose="020B0604020202090204" pitchFamily="34" charset="0"/>
              </a:rPr>
              <a:t>Key fields: </a:t>
            </a:r>
            <a:r>
              <a:rPr 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Country, City, Cuisines, Price Range, Rating, Votes, Online Delivery, Table Booking.</a:t>
            </a:r>
            <a:endParaRPr 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endParaRPr 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sz="1400" b="1" dirty="0">
                <a:latin typeface="Montserrat" panose="00000500000000000000" pitchFamily="2" charset="0"/>
                <a:cs typeface="Arial" panose="020B0604020202090204" pitchFamily="34" charset="0"/>
              </a:rPr>
              <a:t>Data Cleaning:</a:t>
            </a:r>
            <a:endParaRPr lang="en-US" sz="1400" b="1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lvl="0"/>
            <a:r>
              <a:rPr 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Removed unwanted spaces using TRIM().</a:t>
            </a:r>
            <a:endParaRPr 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lvl="0"/>
            <a:r>
              <a:rPr 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Standardized Yes/No columns → </a:t>
            </a:r>
            <a:r>
              <a:rPr lang="en-US" sz="1400" b="1" dirty="0">
                <a:latin typeface="Montserrat" panose="00000500000000000000" pitchFamily="2" charset="0"/>
                <a:cs typeface="Arial" panose="020B0604020202090204" pitchFamily="34" charset="0"/>
              </a:rPr>
              <a:t>TRUE/FALSE</a:t>
            </a:r>
            <a:r>
              <a:rPr 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.</a:t>
            </a:r>
            <a:endParaRPr 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lvl="0"/>
            <a:r>
              <a:rPr 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Corrected inconsistent format and spelling errors using Find and Replace in City column.</a:t>
            </a:r>
            <a:endParaRPr 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lvl="0"/>
            <a:r>
              <a:rPr 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Converted Datekey_Opening into proper dates.</a:t>
            </a:r>
            <a:endParaRPr 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lvl="0"/>
            <a:r>
              <a:rPr 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Extracted Year from cleaned dates.</a:t>
            </a:r>
            <a:endParaRPr 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lvl="0"/>
            <a:r>
              <a:rPr 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Filled blank cuisines with "Unknown".</a:t>
            </a:r>
            <a:endParaRPr 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lvl="0"/>
            <a:r>
              <a:rPr 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Normalized currency types.</a:t>
            </a:r>
            <a:endParaRPr 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lvl="0"/>
            <a:r>
              <a:rPr 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Mapped Country Codes using VLOOKUP.</a:t>
            </a:r>
            <a:endParaRPr 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r>
              <a:rPr 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Handled inconsistent formats (e.g., text numbers → numeric).</a:t>
            </a:r>
            <a:endParaRPr 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35"/>
            <a:ext cx="12192000" cy="449939"/>
          </a:xfrm>
        </p:spPr>
        <p:txBody>
          <a:bodyPr/>
          <a:lstStyle/>
          <a:p>
            <a:r>
              <a:rPr lang="en-US" sz="3200" dirty="0">
                <a:solidFill>
                  <a:srgbClr val="FF0000"/>
                </a:solidFill>
                <a:latin typeface="Montserrat" panose="00000500000000000000" pitchFamily="2" charset="0"/>
              </a:rPr>
              <a:t>Methodology &amp; Approach</a:t>
            </a:r>
            <a:endParaRPr lang="en-US" sz="3200" b="1" dirty="0">
              <a:solidFill>
                <a:srgbClr val="FF0000"/>
              </a:solidFill>
              <a:latin typeface="Montserrat" panose="00000500000000000000" pitchFamily="2" charset="0"/>
              <a:cs typeface="Arial" panose="020B060402020209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260" y="450850"/>
            <a:ext cx="11667490" cy="6407150"/>
          </a:xfrm>
        </p:spPr>
        <p:txBody>
          <a:bodyPr/>
          <a:lstStyle/>
          <a:p>
            <a:endParaRPr lang="en-US" altLang="en-US" sz="1800" b="1" dirty="0">
              <a:cs typeface="+mn-lt"/>
            </a:endParaRPr>
          </a:p>
          <a:p>
            <a:r>
              <a:rPr lang="en-US" altLang="en-US" sz="1400" b="1" dirty="0">
                <a:latin typeface="Montserrat" panose="00000500000000000000" pitchFamily="2" charset="0"/>
                <a:cs typeface="Arial" panose="020B0604020202090204" pitchFamily="34" charset="0"/>
              </a:rPr>
              <a:t>Dataset Summary:</a:t>
            </a:r>
            <a:endParaRPr lang="en-US" altLang="en-US" sz="1400" b="1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r>
              <a:rPr lang="en-US" altLang="en-US" sz="1400" b="1" dirty="0">
                <a:latin typeface="Montserrat" panose="00000500000000000000" pitchFamily="2" charset="0"/>
                <a:cs typeface="Arial" panose="020B0604020202090204" pitchFamily="34" charset="0"/>
              </a:rPr>
              <a:t>Total Records</a:t>
            </a:r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: 9,551 restaurants across multiple countries.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r>
              <a:rPr lang="en-US" altLang="en-US" sz="1400" b="1" dirty="0">
                <a:latin typeface="Montserrat" panose="00000500000000000000" pitchFamily="2" charset="0"/>
                <a:cs typeface="Arial" panose="020B0604020202090204" pitchFamily="34" charset="0"/>
              </a:rPr>
              <a:t>Key Attributes Used</a:t>
            </a:r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:City, Country Code, Rating, Votes, Average Cost for Two Cuisines, Online Delivery, Table Booking,Price Range,Opening Year.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endParaRPr lang="en-US" altLang="en-US" sz="1400" b="1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r>
              <a:rPr lang="en-US" altLang="en-US" sz="1400" b="1" dirty="0">
                <a:latin typeface="Montserrat" panose="00000500000000000000" pitchFamily="2" charset="0"/>
                <a:cs typeface="Arial" panose="020B0604020202090204" pitchFamily="34" charset="0"/>
              </a:rPr>
              <a:t>Data Cleaning &amp; Preprocessing:</a:t>
            </a:r>
            <a:endParaRPr lang="en-US" altLang="en-US" sz="1400" b="1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Standardized dates (converted YYYY_M_D to valid date format).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Normalized currency and mapped country names using LOOKUP.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Converted boolean-like fields (Yes/No) into TRUE/FALSE for consistency.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Removed or handled missing entries in Cuisines, Cost, and Rating.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r>
              <a:rPr lang="en-US" altLang="en-US" sz="1400" b="1" dirty="0">
                <a:latin typeface="Montserrat" panose="00000500000000000000" pitchFamily="2" charset="0"/>
                <a:cs typeface="Arial" panose="020B0604020202090204" pitchFamily="34" charset="0"/>
              </a:rPr>
              <a:t>Ensured proper data types:</a:t>
            </a:r>
            <a:endParaRPr lang="en-US" altLang="en-US" sz="1400" b="1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Numeric: Votes, Cost, Price Range.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Categorical: City, Country, Cuisines.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Boolean: Delivery, Booking.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Date: Opening year extracted from DateKey.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endParaRPr lang="en-US" altLang="en-US" sz="1400" dirty="0">
              <a:cs typeface="+mn-lt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2988" y="1903446"/>
            <a:ext cx="3536302" cy="346165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18150"/>
            <a:ext cx="11023600" cy="226695"/>
          </a:xfrm>
        </p:spPr>
        <p:txBody>
          <a:bodyPr/>
          <a:lstStyle/>
          <a:p>
            <a:r>
              <a:rPr lang="en-US" altLang="en-US" sz="3200" dirty="0">
                <a:solidFill>
                  <a:srgbClr val="FF0000"/>
                </a:solidFill>
                <a:latin typeface="Montserrat" panose="00000500000000000000" pitchFamily="2" charset="0"/>
                <a:sym typeface="+mn-ea"/>
              </a:rPr>
              <a:t>     Analytical Approach and Tools</a:t>
            </a:r>
            <a:endParaRPr lang="en-US" altLang="en-US" sz="3200" dirty="0">
              <a:solidFill>
                <a:srgbClr val="FF0000"/>
              </a:solidFill>
              <a:latin typeface="Montserrat" panose="00000500000000000000" pitchFamily="2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0355" y="781685"/>
            <a:ext cx="11772900" cy="6541770"/>
          </a:xfrm>
        </p:spPr>
        <p:txBody>
          <a:bodyPr/>
          <a:lstStyle/>
          <a:p>
            <a:r>
              <a:rPr lang="en-US" altLang="en-US" sz="1400" b="1" dirty="0">
                <a:latin typeface="Montserrat" panose="00000500000000000000" pitchFamily="2" charset="0"/>
                <a:cs typeface="Arial" panose="020B0604020202090204" pitchFamily="34" charset="0"/>
              </a:rPr>
              <a:t>Analytical Approach:</a:t>
            </a:r>
            <a:endParaRPr lang="en-US" altLang="en-US" sz="1400" b="1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Our analysis followed a structured, step-by-step methodology to ensure accuracy, consistency, and meaningful insights from the Zomato dataset.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r>
              <a:rPr lang="en-US" altLang="en-US" sz="1400" b="1" dirty="0">
                <a:latin typeface="Montserrat" panose="00000500000000000000" pitchFamily="2" charset="0"/>
                <a:cs typeface="Arial" panose="020B0604020202090204" pitchFamily="34" charset="0"/>
              </a:rPr>
              <a:t>Data Cleaning:</a:t>
            </a:r>
            <a:endParaRPr lang="en-US" altLang="en-US" sz="1400" b="1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       • Fixed inconsistent formats (dates, currencies, cuisines).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       • Standardized data types (numeric, categorical, boolean, date).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       • Added country names using VLOOKUP.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r>
              <a:rPr lang="en-US" altLang="en-US" sz="1400" b="1" dirty="0">
                <a:latin typeface="Montserrat" panose="00000500000000000000" pitchFamily="2" charset="0"/>
                <a:cs typeface="Arial" panose="020B0604020202090204" pitchFamily="34" charset="0"/>
              </a:rPr>
              <a:t>Data Enrichment:</a:t>
            </a:r>
            <a:endParaRPr lang="en-US" altLang="en-US" sz="1400" b="1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       • Extracted Opening Year from DateKey.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       • Normalized metrics.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       • Final Expansion Score.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400" b="1" dirty="0">
                <a:latin typeface="Montserrat" panose="00000500000000000000" pitchFamily="2" charset="0"/>
                <a:cs typeface="Arial" panose="020B0604020202090204" pitchFamily="34" charset="0"/>
              </a:rPr>
              <a:t>Analysis Techniques: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       • Applied functions: IF, AVERAGEIF, COUNTIF, AND/OR, IFERROR, IFNA.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       • Applied ARRAYFORMULA, UNIQUE, and FILTER for automation.</a:t>
            </a:r>
            <a:endParaRPr lang="en-US" altLang="en-US" sz="1400" b="1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r>
              <a:rPr lang="en-US" altLang="en-US" sz="1400" b="1" dirty="0">
                <a:latin typeface="Montserrat" panose="00000500000000000000" pitchFamily="2" charset="0"/>
                <a:cs typeface="Arial" panose="020B0604020202090204" pitchFamily="34" charset="0"/>
              </a:rPr>
              <a:t>Visualization: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       • Pivot charts.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       • Slicers.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       • KPI cards.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Font typeface="Arial" panose="020B0604020202090204" pitchFamily="34" charset="0"/>
              <a:buNone/>
            </a:pPr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       • Conditional formatting to highlight key cities</a:t>
            </a:r>
            <a:r>
              <a:rPr lang="en-US" altLang="en-US" sz="1400" dirty="0">
                <a:latin typeface="Montserrat" panose="00000500000000000000" pitchFamily="2" charset="0"/>
              </a:rPr>
              <a:t>.</a:t>
            </a:r>
            <a:endParaRPr lang="en-US" altLang="en-US" sz="1400" dirty="0">
              <a:latin typeface="Montserrat" panose="00000500000000000000" pitchFamily="2" charset="0"/>
            </a:endParaRPr>
          </a:p>
        </p:txBody>
      </p:sp>
      <p:pic>
        <p:nvPicPr>
          <p:cNvPr id="4" name="Picture 3" descr="datacleani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63499" y="2172777"/>
            <a:ext cx="2830195" cy="22663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334645" y="195580"/>
            <a:ext cx="11857990" cy="2216150"/>
          </a:xfrm>
        </p:spPr>
        <p:txBody>
          <a:bodyPr/>
          <a:lstStyle/>
          <a:p>
            <a:r>
              <a:rPr lang="en-US" altLang="en-US" sz="1400" b="1" dirty="0">
                <a:latin typeface="Montserrat" panose="00000500000000000000" pitchFamily="2" charset="0"/>
                <a:cs typeface="Arial" panose="020B0604020202090204" pitchFamily="34" charset="0"/>
              </a:rPr>
              <a:t>Insights:</a:t>
            </a:r>
            <a:endParaRPr lang="en-US" altLang="en-US" sz="1400" b="1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       • India shows the highest concentration of restaurants, significantly ahead of other countries.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       • UAE, Turkey, and Brazil follow with moderate presence.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       • Several countries show minimal representation, indicating lower platform penetration or smaller markets.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r>
              <a:rPr lang="en-US" altLang="en-US" sz="1400" b="1" dirty="0">
                <a:latin typeface="Montserrat" panose="00000500000000000000" pitchFamily="2" charset="0"/>
                <a:cs typeface="Arial" panose="020B0604020202090204" pitchFamily="34" charset="0"/>
              </a:rPr>
              <a:t>Takeaway:</a:t>
            </a:r>
            <a:endParaRPr lang="en-US" altLang="en-US" sz="1400" b="1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     The platform’s activity is heavily concentrated in a few key regions, helping us identify markets with strong   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          demand versus those with lower engagement..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endParaRPr lang="en-US" altLang="en-US" sz="1600" dirty="0">
              <a:latin typeface="Montserrat" panose="00000500000000000000" pitchFamily="2" charset="0"/>
            </a:endParaRPr>
          </a:p>
          <a:p>
            <a:endParaRPr lang="en-US" altLang="en-US" sz="1600" dirty="0">
              <a:latin typeface="Montserrat" panose="00000500000000000000" pitchFamily="2" charset="0"/>
            </a:endParaRPr>
          </a:p>
          <a:p>
            <a:endParaRPr lang="en-US" altLang="en-US" sz="1600" dirty="0">
              <a:latin typeface="Montserrat" panose="00000500000000000000" pitchFamily="2" charset="0"/>
            </a:endParaRPr>
          </a:p>
          <a:p>
            <a:endParaRPr lang="en-US" altLang="en-US" sz="1800" dirty="0"/>
          </a:p>
          <a:p>
            <a:endParaRPr lang="en-US" altLang="en-US" sz="1800" dirty="0"/>
          </a:p>
          <a:p>
            <a:pPr marL="0" indent="0">
              <a:buNone/>
            </a:pPr>
            <a:endParaRPr lang="en-US" altLang="en-US" sz="1800" dirty="0"/>
          </a:p>
        </p:txBody>
      </p:sp>
      <p:pic>
        <p:nvPicPr>
          <p:cNvPr id="11" name="Picture 10" descr="Restaurants per Countr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3026" y="2716695"/>
            <a:ext cx="8375374" cy="404191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7010" y="180975"/>
            <a:ext cx="11984990" cy="5257800"/>
          </a:xfrm>
        </p:spPr>
        <p:txBody>
          <a:bodyPr/>
          <a:lstStyle/>
          <a:p>
            <a:pPr>
              <a:buFont typeface="Arial" panose="020B0604020202090204" pitchFamily="34" charset="0"/>
              <a:buChar char="•"/>
            </a:pPr>
            <a:r>
              <a:rPr lang="en-US" altLang="en-US" sz="1800" dirty="0"/>
              <a:t>  </a:t>
            </a:r>
            <a:r>
              <a:rPr lang="en-US" altLang="en-US" sz="1400" b="1" dirty="0">
                <a:latin typeface="Montserrat" panose="00000500000000000000" pitchFamily="2" charset="0"/>
                <a:cs typeface="Arial" panose="020B0604020202090204" pitchFamily="34" charset="0"/>
              </a:rPr>
              <a:t>Insights:</a:t>
            </a:r>
            <a:endParaRPr lang="en-US" altLang="en-US" sz="1400" b="1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       • Steady growth in restaurant openings over the years.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       • Clear upward trend showing increased adoption of the platform.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       • A few years show a spike, indicating rapid expansion phases.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r>
              <a:rPr lang="en-US" altLang="en-US" sz="1400" b="1" dirty="0">
                <a:latin typeface="Montserrat" panose="00000500000000000000" pitchFamily="2" charset="0"/>
                <a:cs typeface="Arial" panose="020B0604020202090204" pitchFamily="34" charset="0"/>
              </a:rPr>
              <a:t>Takeaway:</a:t>
            </a:r>
            <a:endParaRPr lang="en-US" altLang="en-US" sz="1400" b="1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        The year-over-year growth pattern highlights strong market expansion and growing platform relevance for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        dining and food delivery businesses.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</p:txBody>
      </p:sp>
      <p:pic>
        <p:nvPicPr>
          <p:cNvPr id="4" name="Picture 3" descr="COUNT of RestaurantID vs. Yea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982" y="3068329"/>
            <a:ext cx="9183757" cy="35337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075" y="292735"/>
            <a:ext cx="11013440" cy="2291080"/>
          </a:xfrm>
        </p:spPr>
        <p:txBody>
          <a:bodyPr/>
          <a:lstStyle/>
          <a:p>
            <a:pPr>
              <a:buFont typeface="Arial" panose="020B0604020202090204" pitchFamily="34" charset="0"/>
              <a:buChar char="•"/>
            </a:pPr>
            <a:r>
              <a:rPr lang="en-US" sz="1400" b="1" dirty="0">
                <a:latin typeface="Montserrat" panose="00000500000000000000" pitchFamily="2" charset="0"/>
                <a:cs typeface="Arial" panose="020B0604020202090204" pitchFamily="34" charset="0"/>
              </a:rPr>
              <a:t>Insights:</a:t>
            </a:r>
            <a:endParaRPr lang="en-US" sz="1400" b="1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r>
              <a:rPr 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Some countries like </a:t>
            </a:r>
            <a:r>
              <a:rPr lang="en-US" sz="1400" b="1" dirty="0">
                <a:latin typeface="Montserrat" panose="00000500000000000000" pitchFamily="2" charset="0"/>
                <a:cs typeface="Arial" panose="020B0604020202090204" pitchFamily="34" charset="0"/>
              </a:rPr>
              <a:t>Philippines, Indonesia , and New Zealand</a:t>
            </a:r>
            <a:r>
              <a:rPr 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 have </a:t>
            </a:r>
            <a:r>
              <a:rPr lang="en-US" sz="1400" b="1" dirty="0">
                <a:latin typeface="Montserrat" panose="00000500000000000000" pitchFamily="2" charset="0"/>
                <a:cs typeface="Arial" panose="020B0604020202090204" pitchFamily="34" charset="0"/>
              </a:rPr>
              <a:t>higher average ratings</a:t>
            </a:r>
            <a:r>
              <a:rPr 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, showing strong customer satisfaction.</a:t>
            </a:r>
            <a:endParaRPr 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r>
              <a:rPr 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High-restaurant countries such as </a:t>
            </a:r>
            <a:r>
              <a:rPr lang="en-US" sz="1400" b="1" dirty="0">
                <a:latin typeface="Montserrat" panose="00000500000000000000" pitchFamily="2" charset="0"/>
                <a:cs typeface="Arial" panose="020B0604020202090204" pitchFamily="34" charset="0"/>
              </a:rPr>
              <a:t>India</a:t>
            </a:r>
            <a:r>
              <a:rPr 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 have good ratings but also </a:t>
            </a:r>
            <a:r>
              <a:rPr lang="en-US" sz="1400" b="1" dirty="0">
                <a:latin typeface="Montserrat" panose="00000500000000000000" pitchFamily="2" charset="0"/>
                <a:cs typeface="Arial" panose="020B0604020202090204" pitchFamily="34" charset="0"/>
              </a:rPr>
              <a:t>higher competition</a:t>
            </a:r>
            <a:r>
              <a:rPr 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.</a:t>
            </a:r>
            <a:endParaRPr 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endParaRPr 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r>
              <a:rPr lang="en-US" sz="1400" b="1" dirty="0">
                <a:latin typeface="Montserrat" panose="00000500000000000000" pitchFamily="2" charset="0"/>
                <a:cs typeface="Arial" panose="020B0604020202090204" pitchFamily="34" charset="0"/>
              </a:rPr>
              <a:t>Takeaway:</a:t>
            </a:r>
            <a:endParaRPr lang="en-US" sz="1400" b="1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r>
              <a:rPr 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Higher-rated countries with fewer restaurants offer the </a:t>
            </a:r>
            <a:r>
              <a:rPr lang="en-US" sz="1400" b="1" dirty="0">
                <a:latin typeface="Montserrat" panose="00000500000000000000" pitchFamily="2" charset="0"/>
                <a:cs typeface="Arial" panose="020B0604020202090204" pitchFamily="34" charset="0"/>
              </a:rPr>
              <a:t>best expansion potential</a:t>
            </a:r>
            <a:r>
              <a:rPr 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, as they combine </a:t>
            </a:r>
            <a:r>
              <a:rPr lang="en-US" sz="1400" b="1" dirty="0">
                <a:latin typeface="Montserrat" panose="00000500000000000000" pitchFamily="2" charset="0"/>
                <a:cs typeface="Arial" panose="020B0604020202090204" pitchFamily="34" charset="0"/>
              </a:rPr>
              <a:t>strong customer experience</a:t>
            </a:r>
            <a:r>
              <a:rPr 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 with </a:t>
            </a:r>
            <a:r>
              <a:rPr lang="en-US" sz="1400" b="1" dirty="0">
                <a:latin typeface="Montserrat" panose="00000500000000000000" pitchFamily="2" charset="0"/>
                <a:cs typeface="Arial" panose="020B0604020202090204" pitchFamily="34" charset="0"/>
              </a:rPr>
              <a:t>lower competitive pressure</a:t>
            </a:r>
            <a:r>
              <a:rPr 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.</a:t>
            </a:r>
            <a:endParaRPr 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endParaRPr lang="en-US" sz="1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8713" y="3040987"/>
            <a:ext cx="8905461" cy="3535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160" y="158750"/>
            <a:ext cx="11927840" cy="2329180"/>
          </a:xfrm>
        </p:spPr>
        <p:txBody>
          <a:bodyPr/>
          <a:lstStyle/>
          <a:p>
            <a:r>
              <a:rPr lang="en-US" sz="1400" b="1" dirty="0">
                <a:latin typeface="Montserrat" panose="00000500000000000000" pitchFamily="2" charset="0"/>
                <a:cs typeface="Arial" panose="020B0604020202090204" pitchFamily="34" charset="0"/>
              </a:rPr>
              <a:t>Insights:</a:t>
            </a:r>
            <a:br>
              <a:rPr lang="en-US" sz="1400" dirty="0">
                <a:latin typeface="Montserrat" panose="00000500000000000000" pitchFamily="2" charset="0"/>
                <a:cs typeface="Arial" panose="020B0604020202090204" pitchFamily="34" charset="0"/>
              </a:rPr>
            </a:br>
            <a:r>
              <a:rPr 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• Countries like </a:t>
            </a:r>
            <a:r>
              <a:rPr lang="en-US" sz="1400" b="1" dirty="0">
                <a:latin typeface="Montserrat" panose="00000500000000000000" pitchFamily="2" charset="0"/>
                <a:cs typeface="Arial" panose="020B0604020202090204" pitchFamily="34" charset="0"/>
              </a:rPr>
              <a:t>UK, USA, and Singapore</a:t>
            </a:r>
            <a:r>
              <a:rPr 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 show </a:t>
            </a:r>
            <a:r>
              <a:rPr lang="en-US" sz="1400" b="1" dirty="0">
                <a:latin typeface="Montserrat" panose="00000500000000000000" pitchFamily="2" charset="0"/>
                <a:cs typeface="Arial" panose="020B0604020202090204" pitchFamily="34" charset="0"/>
              </a:rPr>
              <a:t>higher average food costs</a:t>
            </a:r>
            <a:r>
              <a:rPr 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, reflecting higher spending capacity.</a:t>
            </a:r>
            <a:br>
              <a:rPr lang="en-US" sz="1400" dirty="0">
                <a:latin typeface="Montserrat" panose="00000500000000000000" pitchFamily="2" charset="0"/>
                <a:cs typeface="Arial" panose="020B0604020202090204" pitchFamily="34" charset="0"/>
              </a:rPr>
            </a:br>
            <a:r>
              <a:rPr 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• Markets such as </a:t>
            </a:r>
            <a:r>
              <a:rPr lang="en-US" sz="1400" b="1" dirty="0">
                <a:latin typeface="Montserrat" panose="00000500000000000000" pitchFamily="2" charset="0"/>
                <a:cs typeface="Arial" panose="020B0604020202090204" pitchFamily="34" charset="0"/>
              </a:rPr>
              <a:t>India and Sri Lanka</a:t>
            </a:r>
            <a:r>
              <a:rPr 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 have </a:t>
            </a:r>
            <a:r>
              <a:rPr lang="en-US" sz="1400" b="1" dirty="0">
                <a:latin typeface="Montserrat" panose="00000500000000000000" pitchFamily="2" charset="0"/>
                <a:cs typeface="Arial" panose="020B0604020202090204" pitchFamily="34" charset="0"/>
              </a:rPr>
              <a:t>lower cost levels</a:t>
            </a:r>
            <a:r>
              <a:rPr 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, indicating stronger price sensitivity.</a:t>
            </a:r>
            <a:br>
              <a:rPr lang="en-US" sz="1400" dirty="0">
                <a:latin typeface="Montserrat" panose="00000500000000000000" pitchFamily="2" charset="0"/>
                <a:cs typeface="Arial" panose="020B0604020202090204" pitchFamily="34" charset="0"/>
              </a:rPr>
            </a:br>
            <a:r>
              <a:rPr 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• There is a clear gap between premium and budget markets, helping identify positioning strategy.</a:t>
            </a:r>
            <a:endParaRPr 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endParaRPr 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r>
              <a:rPr lang="en-US" sz="1400" b="1" dirty="0">
                <a:latin typeface="Montserrat" panose="00000500000000000000" pitchFamily="2" charset="0"/>
                <a:cs typeface="Arial" panose="020B0604020202090204" pitchFamily="34" charset="0"/>
              </a:rPr>
              <a:t>Takeaway:</a:t>
            </a:r>
            <a:br>
              <a:rPr lang="en-US" sz="1400" dirty="0">
                <a:latin typeface="Montserrat" panose="00000500000000000000" pitchFamily="2" charset="0"/>
                <a:cs typeface="Arial" panose="020B0604020202090204" pitchFamily="34" charset="0"/>
              </a:rPr>
            </a:br>
            <a:r>
              <a:rPr 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Understanding INR-adjusted costs helps identify where to launch </a:t>
            </a:r>
            <a:r>
              <a:rPr lang="en-US" sz="1400" b="1" dirty="0">
                <a:latin typeface="Montserrat" panose="00000500000000000000" pitchFamily="2" charset="0"/>
                <a:cs typeface="Arial" panose="020B0604020202090204" pitchFamily="34" charset="0"/>
              </a:rPr>
              <a:t>premium outlets</a:t>
            </a:r>
            <a:r>
              <a:rPr 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 (high-cost countries) and where to focus on </a:t>
            </a:r>
            <a:r>
              <a:rPr lang="en-US" sz="1400" b="1" dirty="0">
                <a:latin typeface="Montserrat" panose="00000500000000000000" pitchFamily="2" charset="0"/>
                <a:cs typeface="Arial" panose="020B0604020202090204" pitchFamily="34" charset="0"/>
              </a:rPr>
              <a:t>value pricing</a:t>
            </a:r>
            <a:r>
              <a:rPr 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 (lower-cost markets).</a:t>
            </a:r>
            <a:endParaRPr 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endParaRPr lang="en-US" sz="1800" dirty="0"/>
          </a:p>
          <a:p>
            <a:endParaRPr lang="en-US" sz="1600" dirty="0"/>
          </a:p>
        </p:txBody>
      </p:sp>
      <p:pic>
        <p:nvPicPr>
          <p:cNvPr id="5" name="Picture 4" descr="Average Cost for Two (Converted to INR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4243" y="2847147"/>
            <a:ext cx="9528314" cy="35337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1785" y="238760"/>
            <a:ext cx="11668125" cy="2199640"/>
          </a:xfrm>
        </p:spPr>
        <p:txBody>
          <a:bodyPr/>
          <a:lstStyle/>
          <a:p>
            <a:r>
              <a:rPr lang="en-US" sz="1400" b="1" dirty="0">
                <a:latin typeface="Montserrat" panose="00000500000000000000" pitchFamily="2" charset="0"/>
                <a:cs typeface="Arial" panose="020B0604020202090204" pitchFamily="34" charset="0"/>
              </a:rPr>
              <a:t>Insights:</a:t>
            </a:r>
            <a:br>
              <a:rPr lang="en-US" sz="1400" dirty="0">
                <a:latin typeface="Montserrat" panose="00000500000000000000" pitchFamily="2" charset="0"/>
                <a:cs typeface="Arial" panose="020B0604020202090204" pitchFamily="34" charset="0"/>
              </a:rPr>
            </a:br>
            <a:r>
              <a:rPr 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• Countries like </a:t>
            </a:r>
            <a:r>
              <a:rPr lang="en-US" sz="1400" b="1" dirty="0">
                <a:latin typeface="Montserrat" panose="00000500000000000000" pitchFamily="2" charset="0"/>
                <a:cs typeface="Arial" panose="020B0604020202090204" pitchFamily="34" charset="0"/>
              </a:rPr>
              <a:t>Philippines and New Zealand</a:t>
            </a:r>
            <a:r>
              <a:rPr 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 show </a:t>
            </a:r>
            <a:r>
              <a:rPr lang="en-US" sz="1400" b="1" dirty="0">
                <a:latin typeface="Montserrat" panose="00000500000000000000" pitchFamily="2" charset="0"/>
                <a:cs typeface="Arial" panose="020B0604020202090204" pitchFamily="34" charset="0"/>
              </a:rPr>
              <a:t>higher average voter counts</a:t>
            </a:r>
            <a:r>
              <a:rPr 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, indicating strong customer</a:t>
            </a:r>
            <a:endParaRPr 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        engagement and higher platform usage.</a:t>
            </a:r>
            <a:br>
              <a:rPr lang="en-US" sz="1400" dirty="0">
                <a:latin typeface="Montserrat" panose="00000500000000000000" pitchFamily="2" charset="0"/>
                <a:cs typeface="Arial" panose="020B0604020202090204" pitchFamily="34" charset="0"/>
              </a:rPr>
            </a:br>
            <a:r>
              <a:rPr 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     • High voter counts generally align with </a:t>
            </a:r>
            <a:r>
              <a:rPr lang="en-US" sz="1400" b="1" dirty="0">
                <a:latin typeface="Montserrat" panose="00000500000000000000" pitchFamily="2" charset="0"/>
                <a:cs typeface="Arial" panose="020B0604020202090204" pitchFamily="34" charset="0"/>
              </a:rPr>
              <a:t>dense, digitally active markets</a:t>
            </a:r>
            <a:r>
              <a:rPr 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.</a:t>
            </a:r>
            <a:endParaRPr 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endParaRPr 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r>
              <a:rPr lang="en-US" sz="1400" b="1" dirty="0">
                <a:latin typeface="Montserrat" panose="00000500000000000000" pitchFamily="2" charset="0"/>
                <a:cs typeface="Arial" panose="020B0604020202090204" pitchFamily="34" charset="0"/>
              </a:rPr>
              <a:t>Takeaway:</a:t>
            </a:r>
            <a:br>
              <a:rPr lang="en-US" sz="1400" dirty="0">
                <a:latin typeface="Montserrat" panose="00000500000000000000" pitchFamily="2" charset="0"/>
                <a:cs typeface="Arial" panose="020B0604020202090204" pitchFamily="34" charset="0"/>
              </a:rPr>
            </a:br>
            <a:r>
              <a:rPr 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Countries with </a:t>
            </a:r>
            <a:r>
              <a:rPr lang="en-US" sz="1400" b="1" dirty="0">
                <a:latin typeface="Montserrat" panose="00000500000000000000" pitchFamily="2" charset="0"/>
                <a:cs typeface="Arial" panose="020B0604020202090204" pitchFamily="34" charset="0"/>
              </a:rPr>
              <a:t>higher voter participation</a:t>
            </a:r>
            <a:r>
              <a:rPr 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 show stronger customer engagement, making them ideal for expansion with strong marketing and digital outreach.</a:t>
            </a:r>
            <a:endParaRPr 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endParaRPr lang="en-US" sz="1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074506"/>
            <a:ext cx="9104244" cy="2994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382" y="248480"/>
            <a:ext cx="12099235" cy="2441711"/>
          </a:xfrm>
        </p:spPr>
        <p:txBody>
          <a:bodyPr/>
          <a:lstStyle/>
          <a:p>
            <a:r>
              <a:rPr lang="en-US" sz="1400" b="1" dirty="0">
                <a:latin typeface="Montserrat" panose="00000500000000000000" pitchFamily="2" charset="0"/>
                <a:cs typeface="Arial" panose="020B0604020202090204" pitchFamily="34" charset="0"/>
              </a:rPr>
              <a:t>Insights:</a:t>
            </a:r>
            <a:br>
              <a:rPr lang="en-US" sz="1400" dirty="0">
                <a:latin typeface="Montserrat" panose="00000500000000000000" pitchFamily="2" charset="0"/>
                <a:cs typeface="Arial" panose="020B0604020202090204" pitchFamily="34" charset="0"/>
              </a:rPr>
            </a:br>
            <a:r>
              <a:rPr 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• </a:t>
            </a:r>
            <a:r>
              <a:rPr lang="en-US" sz="1400" b="1" dirty="0">
                <a:latin typeface="Montserrat" panose="00000500000000000000" pitchFamily="2" charset="0"/>
                <a:cs typeface="Arial" panose="020B0604020202090204" pitchFamily="34" charset="0"/>
              </a:rPr>
              <a:t>North Indian, Chinese, and Fast Food</a:t>
            </a:r>
            <a:r>
              <a:rPr 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 appear most frequently, showing strong and consistent customer  </a:t>
            </a:r>
            <a:endParaRPr 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       demand.</a:t>
            </a:r>
            <a:br>
              <a:rPr lang="en-US" sz="1400" dirty="0">
                <a:latin typeface="Montserrat" panose="00000500000000000000" pitchFamily="2" charset="0"/>
                <a:cs typeface="Arial" panose="020B0604020202090204" pitchFamily="34" charset="0"/>
              </a:rPr>
            </a:br>
            <a:r>
              <a:rPr 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     • Popularity also extends to </a:t>
            </a:r>
            <a:r>
              <a:rPr lang="en-US" sz="1400" b="1" dirty="0">
                <a:latin typeface="Montserrat" panose="00000500000000000000" pitchFamily="2" charset="0"/>
                <a:cs typeface="Arial" panose="020B0604020202090204" pitchFamily="34" charset="0"/>
              </a:rPr>
              <a:t>Italian, Bakery, and Continental</a:t>
            </a:r>
            <a:r>
              <a:rPr 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, reflecting a preference for diverse, multi-cuisine </a:t>
            </a:r>
            <a:endParaRPr 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       offerings.</a:t>
            </a:r>
            <a:endParaRPr 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endParaRPr 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r>
              <a:rPr lang="en-US" sz="1400" b="1" dirty="0">
                <a:latin typeface="Montserrat" panose="00000500000000000000" pitchFamily="2" charset="0"/>
                <a:cs typeface="Arial" panose="020B0604020202090204" pitchFamily="34" charset="0"/>
              </a:rPr>
              <a:t>Takeaway:</a:t>
            </a:r>
            <a:br>
              <a:rPr lang="en-US" sz="1400" dirty="0">
                <a:latin typeface="Montserrat" panose="00000500000000000000" pitchFamily="2" charset="0"/>
                <a:cs typeface="Arial" panose="020B0604020202090204" pitchFamily="34" charset="0"/>
              </a:rPr>
            </a:br>
            <a:r>
              <a:rPr 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Focusing on the </a:t>
            </a:r>
            <a:r>
              <a:rPr lang="en-US" sz="1400" b="1" dirty="0">
                <a:latin typeface="Montserrat" panose="00000500000000000000" pitchFamily="2" charset="0"/>
                <a:cs typeface="Arial" panose="020B0604020202090204" pitchFamily="34" charset="0"/>
              </a:rPr>
              <a:t>top-performing cuisines</a:t>
            </a:r>
            <a:r>
              <a:rPr 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 increases the chances of customer acceptance in new markets and supports a strong launch strategy for upcoming restaurants</a:t>
            </a:r>
            <a:r>
              <a:rPr lang="en-US" sz="1400" dirty="0">
                <a:latin typeface="Arial" panose="020B0604020202090204" pitchFamily="34" charset="0"/>
                <a:cs typeface="Arial" panose="020B0604020202090204" pitchFamily="34" charset="0"/>
              </a:rPr>
              <a:t>.</a:t>
            </a:r>
            <a:endParaRPr lang="en-US" sz="14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endParaRPr lang="en-US" sz="14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5876" y="3180522"/>
            <a:ext cx="7580245" cy="3428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795" y="225425"/>
            <a:ext cx="11529695" cy="2884170"/>
          </a:xfrm>
        </p:spPr>
        <p:txBody>
          <a:bodyPr/>
          <a:lstStyle/>
          <a:p>
            <a:r>
              <a:rPr lang="en-US" sz="1400" b="1" dirty="0">
                <a:latin typeface="Montserrat" panose="00000500000000000000" pitchFamily="2" charset="0"/>
                <a:cs typeface="Arial" panose="020B0604020202090204" pitchFamily="34" charset="0"/>
              </a:rPr>
              <a:t>Insights:</a:t>
            </a:r>
            <a:br>
              <a:rPr lang="en-US" sz="1400" dirty="0">
                <a:latin typeface="Montserrat" panose="00000500000000000000" pitchFamily="2" charset="0"/>
                <a:cs typeface="Arial" panose="020B0604020202090204" pitchFamily="34" charset="0"/>
              </a:rPr>
            </a:br>
            <a:r>
              <a:rPr 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• </a:t>
            </a:r>
            <a:r>
              <a:rPr lang="en-US" sz="1400" b="1" dirty="0">
                <a:latin typeface="Montserrat" panose="00000500000000000000" pitchFamily="2" charset="0"/>
                <a:cs typeface="Arial" panose="020B0604020202090204" pitchFamily="34" charset="0"/>
              </a:rPr>
              <a:t>Online delivery is far more widely available</a:t>
            </a:r>
            <a:r>
              <a:rPr 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 than table booking across most restaurants.</a:t>
            </a:r>
            <a:br>
              <a:rPr lang="en-US" sz="1400" dirty="0">
                <a:latin typeface="Montserrat" panose="00000500000000000000" pitchFamily="2" charset="0"/>
                <a:cs typeface="Arial" panose="020B0604020202090204" pitchFamily="34" charset="0"/>
              </a:rPr>
            </a:br>
            <a:r>
              <a:rPr 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• Table booking is offered only by a smaller share of restaurants, mostly in premium or high-traffic areas.</a:t>
            </a:r>
            <a:endParaRPr 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endParaRPr 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r>
              <a:rPr lang="en-US" sz="1400" b="1" dirty="0">
                <a:latin typeface="Montserrat" panose="00000500000000000000" pitchFamily="2" charset="0"/>
                <a:cs typeface="Arial" panose="020B0604020202090204" pitchFamily="34" charset="0"/>
              </a:rPr>
              <a:t>Takeaway:</a:t>
            </a:r>
            <a:br>
              <a:rPr lang="en-US" sz="1400" dirty="0">
                <a:latin typeface="Montserrat" panose="00000500000000000000" pitchFamily="2" charset="0"/>
                <a:cs typeface="Arial" panose="020B0604020202090204" pitchFamily="34" charset="0"/>
              </a:rPr>
            </a:br>
            <a:r>
              <a:rPr 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Online delivery should be a </a:t>
            </a:r>
            <a:r>
              <a:rPr lang="en-US" sz="1400" b="1" dirty="0">
                <a:latin typeface="Montserrat" panose="00000500000000000000" pitchFamily="2" charset="0"/>
                <a:cs typeface="Arial" panose="020B0604020202090204" pitchFamily="34" charset="0"/>
              </a:rPr>
              <a:t>primary focus</a:t>
            </a:r>
            <a:r>
              <a:rPr 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 for expansion, as it aligns with customer preferences and boosts visibility—while table booking can be added selectively for premium or dine-in–heavy regions.</a:t>
            </a:r>
            <a:endParaRPr 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endParaRPr lang="en-US" sz="14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816777"/>
            <a:ext cx="8428383" cy="3369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955"/>
            <a:ext cx="10972800" cy="669290"/>
          </a:xfrm>
        </p:spPr>
        <p:txBody>
          <a:bodyPr/>
          <a:lstStyle/>
          <a:p>
            <a:r>
              <a:rPr lang="en-US" altLang="en-US" sz="2400" b="1" dirty="0">
                <a:solidFill>
                  <a:srgbClr val="FF0000"/>
                </a:solidFill>
                <a:latin typeface="Montserrat" panose="00000500000000000000" pitchFamily="2" charset="0"/>
                <a:cs typeface="Arial" panose="020B0604020202090204" pitchFamily="34" charset="0"/>
              </a:rPr>
              <a:t>Strategic Recommendation: Market Entry Strategy</a:t>
            </a:r>
            <a:endParaRPr lang="en-US" altLang="en-US" sz="2400" b="1" dirty="0">
              <a:solidFill>
                <a:srgbClr val="FF0000"/>
              </a:solidFill>
              <a:latin typeface="Montserrat" panose="00000500000000000000" pitchFamily="2" charset="0"/>
              <a:cs typeface="Arial" panose="020B060402020209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2415" y="944245"/>
            <a:ext cx="11919585" cy="5913120"/>
          </a:xfrm>
        </p:spPr>
        <p:txBody>
          <a:bodyPr/>
          <a:lstStyle/>
          <a:p>
            <a:endParaRPr lang="en-US" altLang="en-US" sz="1600" b="1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r>
              <a:rPr lang="en-US" altLang="en-US" sz="1400" b="1" dirty="0">
                <a:latin typeface="Montserrat" panose="00000500000000000000" pitchFamily="2" charset="0"/>
                <a:cs typeface="Arial" panose="020B0604020202090204" pitchFamily="34" charset="0"/>
              </a:rPr>
              <a:t>Recommendation:</a:t>
            </a:r>
            <a:endParaRPr lang="en-US" altLang="en-US" sz="1400" b="1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altLang="en-US" sz="1400" dirty="0">
                <a:latin typeface="Montserrat" panose="00000500000000000000" pitchFamily="2" charset="0"/>
              </a:rPr>
              <a:t>       • Adopt a Tiered Expansion Approach:</a:t>
            </a:r>
            <a:endParaRPr lang="en-US" altLang="en-US" sz="1400" dirty="0">
              <a:latin typeface="Montserrat" panose="00000500000000000000" pitchFamily="2" charset="0"/>
            </a:endParaRPr>
          </a:p>
          <a:p>
            <a:pPr marL="0" indent="0">
              <a:buNone/>
            </a:pPr>
            <a:r>
              <a:rPr lang="en-US" altLang="en-US" sz="1400" dirty="0">
                <a:latin typeface="Montserrat" panose="00000500000000000000" pitchFamily="2" charset="0"/>
              </a:rPr>
              <a:t>       • Tier 1 (Immediate Expansion): Cities with strong ratings + affordable costs Colombo, Doha, Jakarta.</a:t>
            </a:r>
            <a:endParaRPr lang="en-US" altLang="en-US" sz="1400" dirty="0">
              <a:latin typeface="Montserrat" panose="00000500000000000000" pitchFamily="2" charset="0"/>
            </a:endParaRPr>
          </a:p>
          <a:p>
            <a:pPr marL="0" indent="0">
              <a:buNone/>
            </a:pPr>
            <a:r>
              <a:rPr lang="en-US" altLang="en-US" sz="1400" dirty="0">
                <a:latin typeface="Montserrat" panose="00000500000000000000" pitchFamily="2" charset="0"/>
              </a:rPr>
              <a:t>       • Tier 2 (Secondary Expansion): High potential but premium-priced markets Auckland, Wellington.</a:t>
            </a:r>
            <a:endParaRPr lang="en-US" altLang="en-US" sz="1400" dirty="0">
              <a:latin typeface="Montserrat" panose="00000500000000000000" pitchFamily="2" charset="0"/>
            </a:endParaRPr>
          </a:p>
          <a:p>
            <a:pPr marL="0" indent="0">
              <a:buNone/>
            </a:pPr>
            <a:endParaRPr lang="en-US" altLang="en-US" sz="1400" dirty="0">
              <a:latin typeface="Montserrat" panose="00000500000000000000" pitchFamily="2" charset="0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400" b="1" dirty="0">
                <a:latin typeface="Montserrat" panose="00000500000000000000" pitchFamily="2" charset="0"/>
                <a:cs typeface="Arial" panose="020B0604020202090204" pitchFamily="34" charset="0"/>
              </a:rPr>
              <a:t> Why This Strategy Works:</a:t>
            </a:r>
            <a:endParaRPr lang="en-US" altLang="en-US" sz="1400" b="1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altLang="en-US" sz="1400" dirty="0">
                <a:latin typeface="Montserrat" panose="00000500000000000000" pitchFamily="2" charset="0"/>
              </a:rPr>
              <a:t>       • Reduces financial risk by entering proven markets first.</a:t>
            </a:r>
            <a:endParaRPr lang="en-US" altLang="en-US" sz="1400" dirty="0">
              <a:latin typeface="Montserrat" panose="00000500000000000000" pitchFamily="2" charset="0"/>
            </a:endParaRPr>
          </a:p>
          <a:p>
            <a:pPr marL="0" indent="0">
              <a:buNone/>
            </a:pPr>
            <a:r>
              <a:rPr lang="en-US" altLang="en-US" sz="1400" dirty="0">
                <a:latin typeface="Montserrat" panose="00000500000000000000" pitchFamily="2" charset="0"/>
              </a:rPr>
              <a:t>       • Allows brand to establish a footprint before entering premium regions.</a:t>
            </a:r>
            <a:endParaRPr lang="en-US" altLang="en-US" sz="1400" dirty="0">
              <a:latin typeface="Montserrat" panose="00000500000000000000" pitchFamily="2" charset="0"/>
            </a:endParaRPr>
          </a:p>
          <a:p>
            <a:pPr marL="0" indent="0">
              <a:buNone/>
            </a:pPr>
            <a:r>
              <a:rPr lang="en-US" altLang="en-US" sz="1400" dirty="0">
                <a:latin typeface="Montserrat" panose="00000500000000000000" pitchFamily="2" charset="0"/>
              </a:rPr>
              <a:t>       • Ensures sequential rollout based on real performance.</a:t>
            </a:r>
            <a:endParaRPr lang="en-US" altLang="en-US" sz="1400" dirty="0">
              <a:latin typeface="Montserrat" panose="00000500000000000000" pitchFamily="2" charset="0"/>
            </a:endParaRPr>
          </a:p>
          <a:p>
            <a:pPr marL="0" indent="0">
              <a:buNone/>
            </a:pPr>
            <a:endParaRPr lang="en-US" altLang="en-US" sz="1400" dirty="0">
              <a:latin typeface="Montserrat" panose="00000500000000000000" pitchFamily="2" charset="0"/>
            </a:endParaRPr>
          </a:p>
          <a:p>
            <a:r>
              <a:rPr lang="en-US" altLang="en-US" sz="1400" b="1" dirty="0">
                <a:latin typeface="Montserrat" panose="00000500000000000000" pitchFamily="2" charset="0"/>
                <a:cs typeface="Arial" panose="020B0604020202090204" pitchFamily="34" charset="0"/>
              </a:rPr>
              <a:t>Expected Impact:</a:t>
            </a:r>
            <a:endParaRPr lang="en-US" altLang="en-US" sz="1400" b="1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altLang="en-US" sz="1400" dirty="0">
                <a:latin typeface="Montserrat" panose="00000500000000000000" pitchFamily="2" charset="0"/>
              </a:rPr>
              <a:t>       • Faster break-even in Tier 1 markets.</a:t>
            </a:r>
            <a:endParaRPr lang="en-US" altLang="en-US" sz="1400" dirty="0">
              <a:latin typeface="Montserrat" panose="00000500000000000000" pitchFamily="2" charset="0"/>
            </a:endParaRPr>
          </a:p>
          <a:p>
            <a:pPr marL="0" indent="0">
              <a:buNone/>
            </a:pPr>
            <a:r>
              <a:rPr lang="en-US" altLang="en-US" sz="1400" dirty="0">
                <a:latin typeface="Montserrat" panose="00000500000000000000" pitchFamily="2" charset="0"/>
              </a:rPr>
              <a:t>       • Strong brand presence before entering Tier 2 markets.</a:t>
            </a:r>
            <a:endParaRPr lang="en-US" altLang="en-US" sz="1400" dirty="0">
              <a:latin typeface="Montserrat" panose="00000500000000000000" pitchFamily="2" charset="0"/>
            </a:endParaRPr>
          </a:p>
          <a:p>
            <a:pPr marL="0" indent="0">
              <a:buNone/>
            </a:pPr>
            <a:r>
              <a:rPr lang="en-US" altLang="en-US" sz="1400" dirty="0">
                <a:latin typeface="Montserrat" panose="00000500000000000000" pitchFamily="2" charset="0"/>
              </a:rPr>
              <a:t>       • Better long-term regional diversification.</a:t>
            </a:r>
            <a:endParaRPr lang="en-US" altLang="en-US" sz="1400" dirty="0">
              <a:latin typeface="Montserrat" panose="00000500000000000000" pitchFamily="2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8110"/>
            <a:ext cx="10972800" cy="268384"/>
          </a:xfrm>
        </p:spPr>
        <p:txBody>
          <a:bodyPr/>
          <a:lstStyle/>
          <a:p>
            <a:r>
              <a:rPr lang="en-US" altLang="en-US" sz="2800" b="1" dirty="0">
                <a:solidFill>
                  <a:srgbClr val="FF0000"/>
                </a:solidFill>
                <a:latin typeface="Montserrat" panose="00000500000000000000" pitchFamily="2" charset="0"/>
                <a:cs typeface="Arial" panose="020B0604020202090204" pitchFamily="34" charset="0"/>
              </a:rPr>
              <a:t>Dashboard &amp; Key Visualizations</a:t>
            </a:r>
            <a:endParaRPr lang="en-US" altLang="en-US" sz="2800" b="1" dirty="0">
              <a:solidFill>
                <a:srgbClr val="FF0000"/>
              </a:solidFill>
              <a:latin typeface="Montserrat" panose="00000500000000000000" pitchFamily="2" charset="0"/>
              <a:cs typeface="Arial" panose="020B060402020209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390" y="922020"/>
            <a:ext cx="11992610" cy="5935980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1600" dirty="0">
                <a:latin typeface="Montserrat" panose="00000500000000000000" pitchFamily="2" charset="0"/>
              </a:rPr>
              <a:t>	</a:t>
            </a:r>
            <a:r>
              <a:rPr lang="en-US" altLang="en-US" sz="1400" dirty="0">
                <a:latin typeface="Montserrat" panose="00000500000000000000" pitchFamily="2" charset="0"/>
              </a:rPr>
              <a:t>• </a:t>
            </a:r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The dashboard consolidates restaurant distribution, customer preferences, rating patterns, and market 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                   scoring in a single view.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	• Year-wise slicer helps identify growth trends and seasonality in openings.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	• Scorecards highlight quick metrics such as Total Restaurants, Avg Rating, Avg Cost, Online Delivery %.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r>
              <a:rPr lang="en-US" sz="1400" b="1" dirty="0">
                <a:latin typeface="Montserrat" panose="00000500000000000000" pitchFamily="2" charset="0"/>
                <a:cs typeface="Arial" panose="020B0604020202090204" pitchFamily="34" charset="0"/>
              </a:rPr>
              <a:t> </a:t>
            </a:r>
            <a:r>
              <a:rPr lang="en-US" altLang="en-US" sz="1400" b="1" dirty="0">
                <a:latin typeface="Montserrat" panose="00000500000000000000" pitchFamily="2" charset="0"/>
                <a:cs typeface="Arial" panose="020B0604020202090204" pitchFamily="34" charset="0"/>
              </a:rPr>
              <a:t>️ Key Interactive Features:</a:t>
            </a:r>
            <a:endParaRPr lang="en-US" altLang="en-US" sz="1400" b="1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	• Slicers/Filters: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	• Year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	• Country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	• Price Range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	• Online Delivery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	• These slicers dynamically update charts and KPIs to support faster decision-making.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	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r>
              <a:rPr lang="en-US" altLang="en-US" sz="1400" b="1" dirty="0">
                <a:latin typeface="Montserrat" panose="00000500000000000000" pitchFamily="2" charset="0"/>
                <a:cs typeface="Arial" panose="020B0604020202090204" pitchFamily="34" charset="0"/>
              </a:rPr>
              <a:t>  Why This Dashboard Matters:</a:t>
            </a:r>
            <a:endParaRPr lang="en-US" altLang="en-US" sz="1400" b="1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	• Makes complex data easy to digest at a glance.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	• Helps leadership quickly identify.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	• Expansion-ready markets.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	• High-performance cuisines</a:t>
            </a:r>
            <a:r>
              <a:rPr lang="en-US" altLang="en-US" sz="1400" dirty="0">
                <a:latin typeface="Arial" panose="020B0604020202090204" pitchFamily="34" charset="0"/>
                <a:cs typeface="Arial" panose="020B0604020202090204" pitchFamily="34" charset="0"/>
              </a:rPr>
              <a:t>.</a:t>
            </a:r>
            <a:r>
              <a:rPr lang="en-US" altLang="en-US" sz="1800" dirty="0"/>
              <a:t>	</a:t>
            </a:r>
            <a:endParaRPr lang="en-US" altLang="en-US" sz="1800" dirty="0"/>
          </a:p>
          <a:p>
            <a:pPr marL="0" indent="0">
              <a:buNone/>
            </a:pPr>
            <a:r>
              <a:rPr lang="en-US" altLang="en-US" sz="1800" dirty="0"/>
              <a:t>	</a:t>
            </a:r>
            <a:endParaRPr lang="en-US" alt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1635" y="6382577"/>
            <a:ext cx="10972800" cy="190657"/>
          </a:xfrm>
        </p:spPr>
        <p:txBody>
          <a:bodyPr/>
          <a:lstStyle/>
          <a:p>
            <a:br>
              <a:rPr lang="en-US" altLang="en-US" dirty="0"/>
            </a:br>
            <a:r>
              <a:rPr lang="en-US" altLang="en-US" sz="1800" b="1" dirty="0"/>
              <a:t>Interactive Dashboard (Google Sheets):</a:t>
            </a:r>
            <a:br>
              <a:rPr lang="en-US" altLang="en-US" sz="1800" b="1" dirty="0"/>
            </a:br>
            <a:r>
              <a:rPr lang="en-US" altLang="en-US" sz="1800" dirty="0">
                <a:hlinkClick r:id="rId1" tooltip="" action="ppaction://hlinkfile"/>
              </a:rPr>
              <a:t>https://docs.google.com/spreadsheets/d/1efeRLEHvsvSHCHaZdJ2bsdbmigGfJ0h0/edit?usp=sharing&amp;ouid=106032375274056022459&amp;rtpof=true&amp;sd=true</a:t>
            </a:r>
            <a:br>
              <a:rPr lang="en-US" altLang="en-US" b="1" dirty="0"/>
            </a:br>
            <a:endParaRPr lang="en-US" dirty="0"/>
          </a:p>
        </p:txBody>
      </p:sp>
      <p:pic>
        <p:nvPicPr>
          <p:cNvPr id="3" name="Picture 2" descr="Screenshot 2026-03-02 at 1.53.48 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0955"/>
            <a:ext cx="12192000" cy="54965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539" y="306069"/>
            <a:ext cx="10972800" cy="327025"/>
          </a:xfrm>
        </p:spPr>
        <p:txBody>
          <a:bodyPr/>
          <a:lstStyle/>
          <a:p>
            <a:r>
              <a:rPr lang="en-US" sz="2800" b="1" dirty="0">
                <a:solidFill>
                  <a:srgbClr val="FF0000"/>
                </a:solidFill>
                <a:latin typeface="Montserrat" panose="00000500000000000000" pitchFamily="2" charset="0"/>
                <a:cs typeface="Arial" panose="020B0604020202090204" pitchFamily="34" charset="0"/>
              </a:rPr>
              <a:t>Conclusion</a:t>
            </a:r>
            <a:endParaRPr lang="en-US" sz="2800" b="1" dirty="0">
              <a:solidFill>
                <a:srgbClr val="FF0000"/>
              </a:solidFill>
              <a:latin typeface="Montserrat" panose="00000500000000000000" pitchFamily="2" charset="0"/>
              <a:cs typeface="Arial" panose="020B060402020209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125" y="1061085"/>
            <a:ext cx="11677650" cy="5796915"/>
          </a:xfrm>
        </p:spPr>
        <p:txBody>
          <a:bodyPr/>
          <a:lstStyle/>
          <a:p>
            <a:r>
              <a:rPr lang="en-US" altLang="en-US" sz="1400" b="1" dirty="0">
                <a:latin typeface="Montserrat" panose="00000500000000000000" pitchFamily="2" charset="0"/>
                <a:cs typeface="Arial" panose="020B0604020202090204" pitchFamily="34" charset="0"/>
              </a:rPr>
              <a:t>Key Takeaways:</a:t>
            </a:r>
            <a:endParaRPr lang="en-US" altLang="en-US" sz="1400" b="1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      • The data reveals clear opportunities in countries with low restaurant density and strong customer engagement.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      • Cities like Colombo, Doha, Jakarta, Auckland, and Wellington emerge as the most promising for expansion 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        based on ratings,cost structure, and competition level.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      • Customer preferences strongly favor mid-range pricing, popular cuisines such as Fast Food, Indian,Continental,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        and restaurants offering online delivery.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400" b="1" dirty="0">
                <a:latin typeface="Montserrat" panose="00000500000000000000" pitchFamily="2" charset="0"/>
                <a:cs typeface="Arial" panose="020B0604020202090204" pitchFamily="34" charset="0"/>
              </a:rPr>
              <a:t>Implications for Business: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      • Entering the identified markets gives the company a competitive first-mover advantage.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      • A structured expansion roadmap ensures scalable growth across multiple geographies.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r>
              <a:rPr lang="en-US" altLang="en-US" sz="1400" b="1" dirty="0">
                <a:latin typeface="Montserrat" panose="00000500000000000000" pitchFamily="2" charset="0"/>
                <a:cs typeface="Arial" panose="020B0604020202090204" pitchFamily="34" charset="0"/>
              </a:rPr>
              <a:t>Final Statement:</a:t>
            </a:r>
            <a:endParaRPr lang="en-US" altLang="en-US" sz="1400" b="1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This analysis empowers the organization with clear, data-backed insights to make confident expansion decisions.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>
              <a:buFont typeface="Arial" panose="020B0604020202090204" pitchFamily="34" charset="0"/>
              <a:buChar char="•"/>
            </a:pP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 By combining market potential, customer behavior, and operational factors, we have identified a strategic path 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       for long-term, sustainable growth</a:t>
            </a:r>
            <a:r>
              <a:rPr lang="en-US" altLang="en-US" sz="1400" dirty="0">
                <a:latin typeface="Montserrat" panose="00000500000000000000" pitchFamily="2" charset="0"/>
                <a:cs typeface="+mn-lt"/>
              </a:rPr>
              <a:t>.</a:t>
            </a:r>
            <a:endParaRPr lang="en-US" altLang="en-US" sz="1400" dirty="0">
              <a:latin typeface="Montserrat" panose="00000500000000000000" pitchFamily="2" charset="0"/>
              <a:cs typeface="+mn-l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955"/>
            <a:ext cx="10972800" cy="549910"/>
          </a:xfrm>
        </p:spPr>
        <p:txBody>
          <a:bodyPr/>
          <a:lstStyle/>
          <a:p>
            <a:r>
              <a:rPr lang="en-US" altLang="en-US" sz="2800" b="1" dirty="0">
                <a:solidFill>
                  <a:srgbClr val="FF0000"/>
                </a:solidFill>
                <a:latin typeface="Montserrat" panose="00000500000000000000" pitchFamily="2" charset="0"/>
                <a:cs typeface="Arial" panose="020B0604020202090204" pitchFamily="34" charset="0"/>
              </a:rPr>
              <a:t>Acknowledgements &amp; References</a:t>
            </a:r>
            <a:endParaRPr lang="en-US" altLang="en-US" sz="2800" b="1" dirty="0">
              <a:solidFill>
                <a:srgbClr val="FF0000"/>
              </a:solidFill>
              <a:latin typeface="Montserrat" panose="00000500000000000000" pitchFamily="2" charset="0"/>
              <a:cs typeface="Arial" panose="020B060402020209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6860" y="1001395"/>
            <a:ext cx="11915775" cy="5856605"/>
          </a:xfrm>
        </p:spPr>
        <p:txBody>
          <a:bodyPr/>
          <a:lstStyle/>
          <a:p>
            <a:r>
              <a:rPr lang="en-US" altLang="en-US" sz="1400" b="1" dirty="0">
                <a:latin typeface="Montserrat" panose="00000500000000000000" pitchFamily="2" charset="0"/>
                <a:cs typeface="Arial" panose="020B0604020202090204" pitchFamily="34" charset="0"/>
              </a:rPr>
              <a:t>Acknowledgements:</a:t>
            </a:r>
            <a:endParaRPr lang="en-US" altLang="en-US" sz="1400" b="1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	• I extend my sincere thanks to the training faculty and mentors for their continuous support, guidance, and 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                    domain insights throughout this project.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	• Special appreciation to the data analytics program team, whose structured learning modules enabled the 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                     completion of this end-to-end analysis.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	• Gratitude to all peers and collaborators who contributed with feedback, suggestions, and knowledge- 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                    sharing during the execution of this project.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 </a:t>
            </a:r>
            <a:r>
              <a:rPr lang="en-US" altLang="en-US" sz="1400" b="1" dirty="0">
                <a:latin typeface="Montserrat" panose="00000500000000000000" pitchFamily="2" charset="0"/>
                <a:cs typeface="Arial" panose="020B0604020202090204" pitchFamily="34" charset="0"/>
              </a:rPr>
              <a:t>References: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	• Dataset source: Zomato Restaurant Dataset (Provided by Newton School / Course Material)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	• Visualization techniques and design inspiration: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	• Function documentation and best practices: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	• Google Sheets Function Reference — https://support.google.com/docs/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altLang="en-US" sz="1400" dirty="0">
                <a:latin typeface="Montserrat" panose="00000500000000000000" pitchFamily="2" charset="0"/>
                <a:cs typeface="Arial" panose="020B0604020202090204" pitchFamily="34" charset="0"/>
              </a:rPr>
              <a:t>	• Online restaurant and food delivery trend reports (Statista &amp; Public Market Reports).</a:t>
            </a:r>
            <a:endParaRPr lang="en-US" altLang="en-US" sz="1400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pPr marL="0" indent="0">
              <a:buNone/>
            </a:pPr>
            <a:endParaRPr lang="en-US" altLang="en-US" sz="1800" dirty="0"/>
          </a:p>
          <a:p>
            <a:r>
              <a:rPr lang="en-US" altLang="en-US" sz="1800" b="1" dirty="0"/>
              <a:t>Interactive Dashboard (Google Sheets):</a:t>
            </a:r>
            <a:endParaRPr lang="en-US" altLang="en-US" sz="1800" b="1" dirty="0"/>
          </a:p>
          <a:p>
            <a:r>
              <a:rPr lang="en-US" altLang="en-US" sz="1800" dirty="0">
                <a:hlinkClick r:id="rId1" tooltip="" action="ppaction://hlinkfile"/>
              </a:rPr>
              <a:t>https://docs.google.com/spreadsheets/d/1efeRLEHvsvSHCHaZdJ2bsdbmigGfJ0h0/edit?usp=sharing&amp;ouid=106032375274056022459&amp;rtpof=true&amp;sd=true</a:t>
            </a:r>
            <a:endParaRPr lang="en-US" alt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5364" name="Picture 4" descr="Thank you Images - Free Download on Freepik"/>
          <p:cNvPicPr>
            <a:picLocks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4050" y="389890"/>
            <a:ext cx="9201150" cy="5736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10322</Words>
  <Application>WPS Presentation</Application>
  <PresentationFormat>Widescreen</PresentationFormat>
  <Paragraphs>241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3" baseType="lpstr">
      <vt:lpstr>Arial</vt:lpstr>
      <vt:lpstr>SimSun</vt:lpstr>
      <vt:lpstr>Wingdings</vt:lpstr>
      <vt:lpstr>Montserrat</vt:lpstr>
      <vt:lpstr>苹方-简</vt:lpstr>
      <vt:lpstr>Times New Roman</vt:lpstr>
      <vt:lpstr>Microsoft YaHei</vt:lpstr>
      <vt:lpstr>汉仪旗黑</vt:lpstr>
      <vt:lpstr>Arial Unicode MS</vt:lpstr>
      <vt:lpstr>Calibri</vt:lpstr>
      <vt:lpstr>Helvetica Neue</vt:lpstr>
      <vt:lpstr>Apple Color Emoji</vt:lpstr>
      <vt:lpstr>Default Design</vt:lpstr>
      <vt:lpstr>ZOMATO RESTAURANT ANALYSIS </vt:lpstr>
      <vt:lpstr>ABOUT ZOMATO</vt:lpstr>
      <vt:lpstr>PowerPoint 演示文稿</vt:lpstr>
      <vt:lpstr>PowerPoint 演示文稿</vt:lpstr>
      <vt:lpstr>Data Overview</vt:lpstr>
      <vt:lpstr>Methodology &amp; Approach</vt:lpstr>
      <vt:lpstr>     Analytical Approach and Tools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Strategic Recommendation: Market Entry Strategy</vt:lpstr>
      <vt:lpstr>Dashboard &amp; Key Visualizations</vt:lpstr>
      <vt:lpstr> Interactive Dashboard (Google Sheets): https://docs.google.com/spreadsheets/d/1efeRLEHvsvSHCHaZdJ2bsdbmigGfJ0h0/edit?usp=sharing&amp;ouid=106032375274056022459&amp;rtpof=true&amp;sd=true  </vt:lpstr>
      <vt:lpstr>Conclusion</vt:lpstr>
      <vt:lpstr>Acknowledgements &amp; References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rajeshmm</dc:creator>
  <cp:lastModifiedBy>Rajesh Mm</cp:lastModifiedBy>
  <cp:revision>21</cp:revision>
  <dcterms:created xsi:type="dcterms:W3CDTF">2026-03-05T15:45:27Z</dcterms:created>
  <dcterms:modified xsi:type="dcterms:W3CDTF">2026-03-05T15:45:27Z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2AC6D2043839414474BE2C69AFC3F508_43</vt:lpwstr>
  </property>
  <property fmtid="{D5CDD505-2E9C-101B-9397-08002B2CF9AE}" pid="3" name="KSOProductBuildVer">
    <vt:lpwstr>1033-12.1.22531.22531</vt:lpwstr>
  </property>
</Properties>
</file>